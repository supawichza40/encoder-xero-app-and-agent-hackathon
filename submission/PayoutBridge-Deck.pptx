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nding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48840"/>
            <a:ext cx="1036015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0" b="1">
                <a:solidFill>
                  <a:srgbClr val="FFFFFF"/>
                </a:solidFill>
                <a:latin typeface="Helvetica Neue"/>
              </a:rPr>
              <a:t>PayoutBridge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7528" y="3913632"/>
            <a:ext cx="1463040" cy="64008"/>
          </a:xfrm>
          <a:prstGeom prst="rect">
            <a:avLst/>
          </a:prstGeom>
          <a:solidFill>
            <a:srgbClr val="13B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103601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Helvetica Neue"/>
              </a:rPr>
              <a:t>Books that match what HMRC already knows.</a:t>
            </a:r>
          </a:p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94A3B8"/>
                </a:solidFill>
                <a:latin typeface="Helvetica Neue"/>
              </a:rPr>
              <a:t>A Xero-native agent for marketplace payouts.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38328"/>
            <a:ext cx="822960" cy="54864"/>
          </a:xfrm>
          <a:prstGeom prst="rect">
            <a:avLst/>
          </a:prstGeom>
          <a:solidFill>
            <a:srgbClr val="13B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Helvetica Neue"/>
              </a:rPr>
              <a:t>The bank feed lies about turnover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A salon owner sells £1,340 through a marketplace this week.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The platform keeps £445.90 commission and £47.10 in fees.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£847 lands in her bank. Her books call that revenue.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The platform reports her itemised earnings to HMRC.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900" b="0">
                <a:solidFill>
                  <a:srgbClr val="94A3B8"/>
                </a:solidFill>
                <a:latin typeface="Helvetica Neue"/>
              </a:rPr>
              <a:t>Her turnover is understated. The fees never appear anywhere.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737360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0" b="1">
                <a:solidFill>
                  <a:srgbClr val="FFFFFF"/>
                </a:solidFill>
                <a:latin typeface="Helvetica Neue"/>
              </a:rPr>
              <a:t>£493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370332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3B5EA"/>
                </a:solidFill>
                <a:latin typeface="Helvetica Neue"/>
              </a:rPr>
              <a:t>vanished — 37% of the sale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4892040"/>
            <a:ext cx="1600200" cy="777240"/>
          </a:xfrm>
          <a:prstGeom prst="roundRect">
            <a:avLst>
              <a:gd name="adj" fmla="val 18000"/>
            </a:avLst>
          </a:prstGeom>
          <a:solidFill>
            <a:srgbClr val="121C30"/>
          </a:solidFill>
          <a:ln w="9525">
            <a:solidFill>
              <a:srgbClr val="13B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37960" y="5001768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Helvetica Neue"/>
              </a:rPr>
              <a:t>£1,340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gross sale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5056631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94A3B8"/>
                </a:solidFill>
                <a:latin typeface="Helvetica Neue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4892040"/>
            <a:ext cx="1600200" cy="777240"/>
          </a:xfrm>
          <a:prstGeom prst="roundRect">
            <a:avLst>
              <a:gd name="adj" fmla="val 18000"/>
            </a:avLst>
          </a:prstGeom>
          <a:solidFill>
            <a:srgbClr val="121C30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5001768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94A3B8"/>
                </a:solidFill>
                <a:latin typeface="Helvetica Neue"/>
              </a:rPr>
              <a:t>−£493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kept by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5056631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94A3B8"/>
                </a:solidFill>
                <a:latin typeface="Helvetica Neue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98480" y="4892040"/>
            <a:ext cx="1051560" cy="777240"/>
          </a:xfrm>
          <a:prstGeom prst="roundRect">
            <a:avLst>
              <a:gd name="adj" fmla="val 18000"/>
            </a:avLst>
          </a:prstGeom>
          <a:solidFill>
            <a:srgbClr val="121C30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5001768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Helvetica Neue"/>
              </a:rPr>
              <a:t>£847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Helvetica Neue"/>
              </a:rPr>
              <a:t>banked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38328"/>
            <a:ext cx="822960" cy="54864"/>
          </a:xfrm>
          <a:prstGeom prst="rect">
            <a:avLst/>
          </a:prstGeom>
          <a:solidFill>
            <a:srgbClr val="13B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Helvetica Neue"/>
              </a:rPr>
              <a:t>HMRC can see the gap. She can't.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85232" cy="1783080"/>
          </a:xfrm>
          <a:prstGeom prst="roundRect">
            <a:avLst>
              <a:gd name="adj" fmla="val 10000"/>
            </a:avLst>
          </a:prstGeom>
          <a:solidFill>
            <a:srgbClr val="121C30"/>
          </a:solidFill>
          <a:ln w="9525"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55648"/>
            <a:ext cx="46451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59E0B"/>
                </a:solidFill>
                <a:latin typeface="Helvetica Neue"/>
              </a:rPr>
              <a:t>3.99m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70048"/>
            <a:ext cx="464515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Helvetica Neue"/>
              </a:rPr>
              <a:t>online sellers reported to HMRC for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6792" y="1554480"/>
            <a:ext cx="5285232" cy="1783080"/>
          </a:xfrm>
          <a:prstGeom prst="roundRect">
            <a:avLst>
              <a:gd name="adj" fmla="val 10000"/>
            </a:avLst>
          </a:prstGeom>
          <a:solidFill>
            <a:srgbClr val="121C30"/>
          </a:solidFill>
          <a:ln w="9525"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6831" y="1755648"/>
            <a:ext cx="46451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59E0B"/>
                </a:solidFill>
                <a:latin typeface="Helvetica Neue"/>
              </a:rPr>
              <a:t>£55bn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1" y="2670048"/>
            <a:ext cx="464515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Helvetica Neue"/>
              </a:rPr>
              <a:t>of earnings in those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285232" cy="1783080"/>
          </a:xfrm>
          <a:prstGeom prst="roundRect">
            <a:avLst>
              <a:gd name="adj" fmla="val 10000"/>
            </a:avLst>
          </a:prstGeom>
          <a:solidFill>
            <a:srgbClr val="121C30"/>
          </a:solidFill>
          <a:ln w="9525"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858768"/>
            <a:ext cx="46451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EF4444"/>
                </a:solidFill>
                <a:latin typeface="Helvetica Neue"/>
              </a:rPr>
              <a:t>~£19,000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773168"/>
            <a:ext cx="464515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Helvetica Neue"/>
              </a:rPr>
              <a:t>backdated VAT in the worked example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3657600"/>
            <a:ext cx="5285232" cy="1783080"/>
          </a:xfrm>
          <a:prstGeom prst="roundRect">
            <a:avLst>
              <a:gd name="adj" fmla="val 10000"/>
            </a:avLst>
          </a:prstGeom>
          <a:solidFill>
            <a:srgbClr val="121C30"/>
          </a:solidFill>
          <a:ln w="9525"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1" y="3858768"/>
            <a:ext cx="46451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EF4444"/>
                </a:solidFill>
                <a:latin typeface="Helvetica Neue"/>
              </a:rPr>
              <a:t>Up to 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4773168"/>
            <a:ext cx="464515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Helvetica Neue"/>
              </a:rPr>
              <a:t>failure-to-notify penalty; 20–70% if deliberate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321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Helvetica Neue"/>
              </a:rPr>
              <a:t>Nudge letters are already going out. </a:t>
            </a:r>
            <a:r>
              <a:rPr sz="1600" b="0">
                <a:solidFill>
                  <a:srgbClr val="FFFFFF"/>
                </a:solidFill>
                <a:latin typeface="Helvetica Neue"/>
              </a:rPr>
              <a:t>Book the net every week and the £90,000 VAT line disappears from view.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3B5EA"/>
                </a:solidFill>
                <a:latin typeface="Helvetica Neue"/>
              </a:rPr>
              <a:t>Her books read £89,044. True turnover: £114,680.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Helvetica Neue"/>
              </a:rPr>
              <a:t>Sources: gov.uk CC/FS11 · gov.uk CC/FS7a · BDO, Mar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38328"/>
            <a:ext cx="822960" cy="54864"/>
          </a:xfrm>
          <a:prstGeom prst="rect">
            <a:avLst/>
          </a:prstGeom>
          <a:solidFill>
            <a:srgbClr val="13B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Helvetica Neue"/>
              </a:rPr>
              <a:t>Statement in. Truth in Xero.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3B5EA"/>
                </a:solidFill>
                <a:latin typeface="Helvetica Neue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00200"/>
            <a:ext cx="5669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Helvetica Neue"/>
              </a:rPr>
              <a:t>Ingest the settlement CSV. Deterministic parser; no LLM touches the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04288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3B5EA"/>
                </a:solidFill>
                <a:latin typeface="Helvetica Ne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350008"/>
            <a:ext cx="5669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Helvetica Neue"/>
              </a:rPr>
              <a:t>Propose the gross-up plan. If the invariant fails, it refuses to post.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54096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3B5EA"/>
                </a:solidFill>
                <a:latin typeface="Helvetica Neue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099815"/>
            <a:ext cx="5669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Helvetica Neue"/>
              </a:rPr>
              <a:t>A human approves every write. Nothing auto-posts.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3B5EA"/>
                </a:solidFill>
                <a:latin typeface="Helvetica Neue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849624"/>
            <a:ext cx="5669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Helvetica Neue"/>
              </a:rPr>
              <a:t>Three Xero writes, then proof: clearing account at exactly £0.00.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57200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Helvetica Neue"/>
              </a:rPr>
              <a:t>Crash after write one? It resumes at write two. No double-posting.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23560"/>
            <a:ext cx="6263640" cy="777240"/>
          </a:xfrm>
          <a:prstGeom prst="roundRect">
            <a:avLst>
              <a:gd name="adj" fmla="val 14000"/>
            </a:avLst>
          </a:prstGeom>
          <a:solidFill>
            <a:srgbClr val="121C30"/>
          </a:solidFill>
          <a:ln w="9525">
            <a:solidFill>
              <a:srgbClr val="13B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815584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2C55E"/>
                </a:solidFill>
                <a:latin typeface="Menlo"/>
              </a:rPr>
              <a:t>1,340.00 − 445.90 − 47.10 − 0.00 = 847.00</a:t>
            </a:r>
          </a:p>
        </p:txBody>
      </p:sp>
      <p:pic>
        <p:nvPicPr>
          <p:cNvPr id="15" name="Picture 14" descr="proposal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737360"/>
            <a:ext cx="4206240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38328"/>
            <a:ext cx="822960" cy="54864"/>
          </a:xfrm>
          <a:prstGeom prst="rect">
            <a:avLst/>
          </a:prstGeom>
          <a:solidFill>
            <a:srgbClr val="13B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Helvetica Neue"/>
              </a:rPr>
              <a:t>How it works</a:t>
            </a:r>
          </a:p>
        </p:txBody>
      </p:sp>
      <p:pic>
        <p:nvPicPr>
          <p:cNvPr id="4" name="Picture 3" descr="arch_f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527" y="1417320"/>
            <a:ext cx="91846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38328"/>
            <a:ext cx="822960" cy="54864"/>
          </a:xfrm>
          <a:prstGeom prst="rect">
            <a:avLst/>
          </a:prstGeom>
          <a:solidFill>
            <a:srgbClr val="13B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Helvetica Neue"/>
              </a:rPr>
              <a:t>From upload to proven zero</a:t>
            </a:r>
          </a:p>
        </p:txBody>
      </p:sp>
      <p:pic>
        <p:nvPicPr>
          <p:cNvPr id="4" name="Picture 3" descr="golden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3584448" cy="2240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005072"/>
            <a:ext cx="35844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13B5EA"/>
                </a:solidFill>
                <a:latin typeface="Helvetica Neue"/>
              </a:rPr>
              <a:t>Upload: </a:t>
            </a:r>
            <a:r>
              <a:rPr sz="1500" b="0">
                <a:solidFill>
                  <a:srgbClr val="94A3B8"/>
                </a:solidFill>
                <a:latin typeface="Helvetica Neue"/>
              </a:rPr>
              <a:t>drag the settlement CSV in; duplicate files are caught by hash.</a:t>
            </a:r>
          </a:p>
        </p:txBody>
      </p:sp>
      <p:pic>
        <p:nvPicPr>
          <p:cNvPr id="6" name="Picture 5" descr="proposal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1600200"/>
            <a:ext cx="3584448" cy="2240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00016" y="4005072"/>
            <a:ext cx="35844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13B5EA"/>
                </a:solidFill>
                <a:latin typeface="Helvetica Neue"/>
              </a:rPr>
              <a:t>Approve: </a:t>
            </a:r>
            <a:r>
              <a:rPr sz="1500" b="0">
                <a:solidFill>
                  <a:srgbClr val="94A3B8"/>
                </a:solidFill>
                <a:latin typeface="Helvetica Neue"/>
              </a:rPr>
              <a:t>every entry itemised, one explicit human yes.</a:t>
            </a:r>
          </a:p>
        </p:txBody>
      </p:sp>
      <p:pic>
        <p:nvPicPr>
          <p:cNvPr id="8" name="Picture 7" descr="verified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512" y="1600200"/>
            <a:ext cx="3584448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68512" y="4005072"/>
            <a:ext cx="35844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13B5EA"/>
                </a:solidFill>
                <a:latin typeface="Helvetica Neue"/>
              </a:rPr>
              <a:t>Verified: </a:t>
            </a:r>
            <a:r>
              <a:rPr sz="1500" b="0">
                <a:solidFill>
                  <a:srgbClr val="94A3B8"/>
                </a:solidFill>
                <a:latin typeface="Helvetica Neue"/>
              </a:rPr>
              <a:t>clearing account at £0.00, read live from Xero.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8512" y="5074920"/>
            <a:ext cx="358444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7600" b="1">
                <a:solidFill>
                  <a:srgbClr val="22C55E"/>
                </a:solidFill>
                <a:latin typeface="Helvetica Neue"/>
              </a:rPr>
              <a:t>£0.00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65960"/>
            <a:ext cx="1127455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0" b="1">
                <a:solidFill>
                  <a:srgbClr val="FFFFFF"/>
                </a:solidFill>
                <a:latin typeface="Helvetica Neue"/>
              </a:rP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276088" y="4526280"/>
            <a:ext cx="1645920" cy="64008"/>
          </a:xfrm>
          <a:prstGeom prst="rect">
            <a:avLst/>
          </a:prstGeom>
          <a:solidFill>
            <a:srgbClr val="13B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112745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94A3B8"/>
                </a:solidFill>
                <a:latin typeface="Helvetica Neue"/>
              </a:rPr>
              <a:t>CSV to a zero-balance clearing account in Xero, in under a minute.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868680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713232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Helvetica Neue"/>
              </a:rPr>
              <a:t>The agent calls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240280"/>
            <a:ext cx="96926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800"/>
              </a:spcAft>
            </a:pPr>
            <a:r>
              <a:rPr sz="2200" b="0">
                <a:solidFill>
                  <a:srgbClr val="94A3B8"/>
                </a:solidFill>
                <a:latin typeface="Helvetica Neue"/>
              </a:rPr>
              <a:t>Your books don't wait for you to open a laptop.</a:t>
            </a:r>
          </a:p>
          <a:p>
            <a:pPr algn="l">
              <a:lnSpc>
                <a:spcPct val="110000"/>
              </a:lnSpc>
              <a:spcAft>
                <a:spcPts val="1800"/>
              </a:spcAft>
            </a:pPr>
            <a:r>
              <a:rPr sz="2200" b="0">
                <a:solidFill>
                  <a:srgbClr val="FFFFFF"/>
                </a:solidFill>
                <a:latin typeface="Helvetica Neue"/>
              </a:rPr>
              <a:t>VAT Guardian phones her: only £847 of £1,340 reached her books.</a:t>
            </a:r>
          </a:p>
          <a:p>
            <a:pPr algn="l">
              <a:lnSpc>
                <a:spcPct val="110000"/>
              </a:lnSpc>
              <a:spcAft>
                <a:spcPts val="1800"/>
              </a:spcAft>
            </a:pPr>
            <a:r>
              <a:rPr sz="2200" b="0">
                <a:solidFill>
                  <a:srgbClr val="FFFFFF"/>
                </a:solidFill>
                <a:latin typeface="Helvetica Neue"/>
              </a:rPr>
              <a:t>It warns her turnover is edging toward the £90,000 line.</a:t>
            </a:r>
          </a:p>
          <a:p>
            <a:pPr algn="l">
              <a:lnSpc>
                <a:spcPct val="110000"/>
              </a:lnSpc>
              <a:spcAft>
                <a:spcPts val="1800"/>
              </a:spcAft>
            </a:pPr>
            <a:r>
              <a:rPr sz="2200" b="0">
                <a:solidFill>
                  <a:srgbClr val="FFFFFF"/>
                </a:solidFill>
                <a:latin typeface="Helvetica Neue"/>
              </a:rPr>
              <a:t>She asks where the £493 went. It explains.</a:t>
            </a:r>
          </a:p>
          <a:p>
            <a:pPr algn="l">
              <a:lnSpc>
                <a:spcPct val="110000"/>
              </a:lnSpc>
              <a:spcAft>
                <a:spcPts val="1800"/>
              </a:spcAft>
            </a:pPr>
            <a:r>
              <a:rPr sz="2200" b="1">
                <a:solidFill>
                  <a:srgbClr val="13B5EA"/>
                </a:solidFill>
                <a:latin typeface="Helvetica Neue"/>
              </a:rPr>
              <a:t>The fix is one spoken yes into the same approval 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erifie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338328"/>
            <a:ext cx="822960" cy="54864"/>
          </a:xfrm>
          <a:prstGeom prst="rect">
            <a:avLst/>
          </a:prstGeom>
          <a:solidFill>
            <a:srgbClr val="13B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Helvetica Neue"/>
              </a:rPr>
              <a:t>Why this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6751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FFFFFF"/>
                </a:solidFill>
                <a:latin typeface="Helvetica Neue"/>
              </a:rPr>
              <a:t>Xero-native: </a:t>
            </a:r>
            <a:r>
              <a:rPr sz="1900" b="0">
                <a:solidFill>
                  <a:srgbClr val="FFFFFF"/>
                </a:solidFill>
                <a:latin typeface="Helvetica Neue"/>
              </a:rPr>
              <a:t>MCP plus raw REST where MCP can't reach.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FFFFFF"/>
                </a:solidFill>
                <a:latin typeface="Helvetica Neue"/>
              </a:rPr>
              <a:t>Deterministic accounting: </a:t>
            </a:r>
            <a:r>
              <a:rPr sz="1900" b="0">
                <a:solidFill>
                  <a:srgbClr val="FFFFFF"/>
                </a:solidFill>
                <a:latin typeface="Helvetica Neue"/>
              </a:rPr>
              <a:t>Decimal, invariant-checked, proven to £0.00 on a live tenant.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Every write approved by a human. Idempotent per step.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94A3B8"/>
                </a:solidFill>
                <a:latin typeface="Helvetica Neue"/>
              </a:rPr>
              <a:t>Next: </a:t>
            </a:r>
            <a:r>
              <a:rPr sz="1900" b="0">
                <a:solidFill>
                  <a:srgbClr val="94A3B8"/>
                </a:solidFill>
                <a:latin typeface="Helvetica Neue"/>
              </a:rPr>
              <a:t>hosted backend, OAuth for any Xero org, refund path live-verified.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13B5EA"/>
                </a:solidFill>
                <a:latin typeface="Helvetica Neue"/>
              </a:rPr>
              <a:t>Ask: </a:t>
            </a:r>
            <a:r>
              <a:rPr sz="1900" b="0">
                <a:solidFill>
                  <a:srgbClr val="13B5EA"/>
                </a:solidFill>
                <a:latin typeface="Helvetica Neue"/>
              </a:rPr>
              <a:t>pick PayoutBridge; help us onto the Xero App Store.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417320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600" b="1">
                <a:solidFill>
                  <a:srgbClr val="FFFFFF"/>
                </a:solidFill>
                <a:latin typeface="Helvetica Neue"/>
              </a:rPr>
              <a:t>~4m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97180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0">
                <a:solidFill>
                  <a:srgbClr val="94A3B8"/>
                </a:solidFill>
                <a:latin typeface="Helvetica Neue"/>
              </a:rPr>
              <a:t>reported sellers.</a:t>
            </a:r>
          </a:p>
          <a:p>
            <a:pPr algn="r">
              <a:spcAft>
                <a:spcPts val="400"/>
              </a:spcAft>
            </a:pPr>
            <a:r>
              <a:rPr sz="1800" b="0">
                <a:solidFill>
                  <a:srgbClr val="94A3B8"/>
                </a:solidFill>
                <a:latin typeface="Helvetica Neue"/>
              </a:rPr>
              <a:t>Every one carries this gap.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2C55E"/>
                </a:solidFill>
                <a:latin typeface="Helvetica Neue"/>
              </a:rPr>
              <a:t>37% of her sale was invisible. Now it isn't.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